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-101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1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9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5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2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0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6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26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34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8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5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6F1F4-2111-4499-A3B9-EC9E40EB650D}" type="datetimeFigureOut">
              <a:rPr lang="en-US" smtClean="0"/>
              <a:t>9/8/2015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1E2DC-912F-4217-8772-1B9906E53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74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58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12217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469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12217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3177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20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" y="2512216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3177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36347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98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721" y="2514600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3177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36347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091940" y="4318158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70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14600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3177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36347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091940" y="4318158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4605337" y="2519364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71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512218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3177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36347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091940" y="4318158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4605337" y="2519364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0063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58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321" y="2519364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3177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36347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091940" y="4318158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4605337" y="2519364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0063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5463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14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743" y="2512218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3177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36347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091940" y="4318158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4605337" y="2519364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0063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5463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5978680" y="2510224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77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2" y="2510224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72000" y="2514600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943600" y="2512218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3177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36347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091940" y="4318158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4605337" y="2519364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0063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5463540" y="432054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5978680" y="2510224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77939" y="431339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86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18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12217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379119" y="4126706"/>
            <a:ext cx="0" cy="207554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193256" y="4135846"/>
            <a:ext cx="0" cy="207554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381625" y="4230483"/>
            <a:ext cx="0" cy="112917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193256" y="4013789"/>
            <a:ext cx="0" cy="112917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3233737" y="4014402"/>
            <a:ext cx="2381" cy="319858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1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10224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343400" y="4343400"/>
            <a:ext cx="0" cy="409575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36" idx="1"/>
          </p:cNvCxnSpPr>
          <p:nvPr/>
        </p:nvCxnSpPr>
        <p:spPr>
          <a:xfrm flipH="1">
            <a:off x="5354793" y="4354308"/>
            <a:ext cx="4762" cy="118452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3200400" y="4018779"/>
            <a:ext cx="2381" cy="319858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657600" y="4343400"/>
            <a:ext cx="0" cy="409575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3652838" y="4752975"/>
            <a:ext cx="4762" cy="118452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57600" y="3831429"/>
            <a:ext cx="0" cy="502831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59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510223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381500" y="3200400"/>
            <a:ext cx="0" cy="114300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392893" y="4178708"/>
            <a:ext cx="0" cy="150789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3200400" y="4018779"/>
            <a:ext cx="2381" cy="319858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57600" y="3831429"/>
            <a:ext cx="0" cy="502831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114800" y="3211308"/>
            <a:ext cx="0" cy="114300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121305" y="3045653"/>
            <a:ext cx="0" cy="150789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148137" y="3045653"/>
            <a:ext cx="0" cy="128384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72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419" y="2510221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381500" y="3200400"/>
            <a:ext cx="0" cy="114300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354793" y="4344205"/>
            <a:ext cx="0" cy="276194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3200400" y="4018779"/>
            <a:ext cx="2381" cy="319858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57600" y="3831429"/>
            <a:ext cx="0" cy="502831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114800" y="3059556"/>
            <a:ext cx="0" cy="128384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572000" y="3200400"/>
            <a:ext cx="0" cy="114300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4578505" y="4344205"/>
            <a:ext cx="0" cy="276194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608356" y="3476594"/>
            <a:ext cx="0" cy="862043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8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619" y="2510220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381500" y="4343400"/>
            <a:ext cx="0" cy="406808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397655" y="3629025"/>
            <a:ext cx="0" cy="715149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3200400" y="4018779"/>
            <a:ext cx="2381" cy="319858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57600" y="3831429"/>
            <a:ext cx="0" cy="502831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114800" y="3059556"/>
            <a:ext cx="0" cy="128384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575018" y="3476594"/>
            <a:ext cx="0" cy="862043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030942" y="3629025"/>
            <a:ext cx="0" cy="715149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029200" y="4351541"/>
            <a:ext cx="0" cy="406808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065556" y="4034833"/>
            <a:ext cx="0" cy="299427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23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819" y="2507839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381500" y="4130856"/>
            <a:ext cx="0" cy="203404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397655" y="2767013"/>
            <a:ext cx="0" cy="1577161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3200400" y="4018779"/>
            <a:ext cx="2381" cy="319858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57600" y="3831429"/>
            <a:ext cx="0" cy="502831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114800" y="3059556"/>
            <a:ext cx="0" cy="128384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575018" y="3476594"/>
            <a:ext cx="0" cy="862043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032218" y="4039210"/>
            <a:ext cx="0" cy="299427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486400" y="4124789"/>
            <a:ext cx="0" cy="203404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488142" y="2547628"/>
            <a:ext cx="0" cy="1577161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4" idx="0"/>
          </p:cNvCxnSpPr>
          <p:nvPr/>
        </p:nvCxnSpPr>
        <p:spPr>
          <a:xfrm>
            <a:off x="5522757" y="2507839"/>
            <a:ext cx="0" cy="182035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21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2" y="2507837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cxnSp>
        <p:nvCxnSpPr>
          <p:cNvPr id="39" name="Straight Connector 38"/>
          <p:cNvCxnSpPr/>
          <p:nvPr/>
        </p:nvCxnSpPr>
        <p:spPr>
          <a:xfrm>
            <a:off x="4348162" y="4354693"/>
            <a:ext cx="0" cy="16492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354793" y="4354693"/>
            <a:ext cx="0" cy="303032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3200400" y="4018779"/>
            <a:ext cx="2381" cy="319858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57600" y="3831429"/>
            <a:ext cx="0" cy="502831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114800" y="3059556"/>
            <a:ext cx="0" cy="128384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575018" y="3476594"/>
            <a:ext cx="0" cy="862043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032218" y="4039210"/>
            <a:ext cx="0" cy="299427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486400" y="2558072"/>
            <a:ext cx="1" cy="1780565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938836" y="4343400"/>
            <a:ext cx="0" cy="16492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938836" y="4540812"/>
            <a:ext cx="0" cy="303032"/>
          </a:xfrm>
          <a:prstGeom prst="line">
            <a:avLst/>
          </a:prstGeom>
          <a:ln w="254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938836" y="3838193"/>
            <a:ext cx="1745" cy="50044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90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09950" y="4267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57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4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72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029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576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00400" y="4262437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864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9436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008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152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0" y="42672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400" y="251022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354793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687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0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35259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983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4403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3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48975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4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354793" y="433426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5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811993" y="433863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6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6269193" y="434340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</a:t>
            </a:r>
            <a:endParaRPr lang="en-US" sz="1200" dirty="0"/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3200400" y="4018779"/>
            <a:ext cx="2381" cy="319858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57600" y="3831429"/>
            <a:ext cx="0" cy="502831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114800" y="3059556"/>
            <a:ext cx="0" cy="128384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575018" y="3476594"/>
            <a:ext cx="0" cy="862043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5032218" y="4039210"/>
            <a:ext cx="0" cy="299427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486400" y="2558072"/>
            <a:ext cx="1" cy="1780565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938836" y="3838193"/>
            <a:ext cx="1745" cy="500444"/>
          </a:xfrm>
          <a:prstGeom prst="line">
            <a:avLst/>
          </a:prstGeom>
          <a:ln w="254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00400" y="2025134"/>
            <a:ext cx="375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Frequencies not aligning with the bins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47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563" y="185861"/>
            <a:ext cx="6387483" cy="42010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george.york\AppData\Local\Microsoft\Windows\Temporary Internet Files\Content.Outlook\DUXYJAXB\window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694747"/>
            <a:ext cx="7759699" cy="573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22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2" y="2519364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Smearing </a:t>
            </a:r>
            <a:r>
              <a:rPr lang="en-US" dirty="0"/>
              <a:t>occurs if |</a:t>
            </a:r>
            <a:r>
              <a:rPr lang="en-US" dirty="0" smtClean="0">
                <a:latin typeface="Symbol" panose="05050102010706020507" pitchFamily="18" charset="2"/>
              </a:rPr>
              <a:t></a:t>
            </a:r>
            <a:r>
              <a:rPr lang="en-US" baseline="-25000" dirty="0" smtClean="0">
                <a:latin typeface="Symbol" panose="05050102010706020507" pitchFamily="18" charset="2"/>
              </a:rPr>
              <a:t></a:t>
            </a:r>
            <a:r>
              <a:rPr lang="en-US" dirty="0" smtClean="0">
                <a:latin typeface="Symbol" panose="05050102010706020507" pitchFamily="18" charset="2"/>
              </a:rPr>
              <a:t>- </a:t>
            </a:r>
            <a:r>
              <a:rPr lang="en-US" baseline="-25000" dirty="0" smtClean="0">
                <a:latin typeface="Symbol" panose="05050102010706020507" pitchFamily="18" charset="2"/>
              </a:rPr>
              <a:t>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en-US" dirty="0"/>
              <a:t>| &lt; ML / 2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98041" y="43434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3399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508298" y="2519364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070358" y="4343400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Symbol" panose="05050102010706020507" pitchFamily="18" charset="2"/>
              </a:rPr>
              <a:t></a:t>
            </a:r>
            <a:r>
              <a:rPr lang="en-US" baseline="-25000" dirty="0">
                <a:solidFill>
                  <a:schemeClr val="tx2"/>
                </a:solidFill>
                <a:latin typeface="Symbol" panose="05050102010706020507" pitchFamily="18" charset="2"/>
              </a:rPr>
              <a:t>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3399" y="4343400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ymbol" panose="05050102010706020507" pitchFamily="18" charset="2"/>
              </a:rPr>
              <a:t></a:t>
            </a:r>
            <a:r>
              <a:rPr lang="en-US" baseline="-25000" dirty="0">
                <a:solidFill>
                  <a:srgbClr val="FF0000"/>
                </a:solidFill>
                <a:latin typeface="Symbol" panose="05050102010706020507" pitchFamily="18" charset="2"/>
              </a:rPr>
              <a:t>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3856607" y="4343400"/>
            <a:ext cx="924732" cy="0"/>
          </a:xfrm>
          <a:prstGeom prst="line">
            <a:avLst/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63781" y="4004686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253785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401" y="2519363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Smearing </a:t>
            </a:r>
            <a:r>
              <a:rPr lang="en-US" dirty="0"/>
              <a:t>occurs if |</a:t>
            </a:r>
            <a:r>
              <a:rPr lang="en-US" dirty="0" smtClean="0">
                <a:latin typeface="Symbol" panose="05050102010706020507" pitchFamily="18" charset="2"/>
              </a:rPr>
              <a:t></a:t>
            </a:r>
            <a:r>
              <a:rPr lang="en-US" baseline="-25000" dirty="0" smtClean="0">
                <a:latin typeface="Symbol" panose="05050102010706020507" pitchFamily="18" charset="2"/>
              </a:rPr>
              <a:t></a:t>
            </a:r>
            <a:r>
              <a:rPr lang="en-US" dirty="0" smtClean="0">
                <a:latin typeface="Symbol" panose="05050102010706020507" pitchFamily="18" charset="2"/>
              </a:rPr>
              <a:t>- </a:t>
            </a:r>
            <a:r>
              <a:rPr lang="en-US" baseline="-25000" dirty="0" smtClean="0">
                <a:latin typeface="Symbol" panose="05050102010706020507" pitchFamily="18" charset="2"/>
              </a:rPr>
              <a:t>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en-US" dirty="0"/>
              <a:t>| &lt; ML / 2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09302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779780" y="2519363"/>
            <a:ext cx="0" cy="182403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070358" y="4343400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Symbol" panose="05050102010706020507" pitchFamily="18" charset="2"/>
              </a:rPr>
              <a:t></a:t>
            </a:r>
            <a:r>
              <a:rPr lang="en-US" baseline="-25000" dirty="0">
                <a:solidFill>
                  <a:schemeClr val="tx2"/>
                </a:solidFill>
                <a:latin typeface="Symbol" panose="05050102010706020507" pitchFamily="18" charset="2"/>
              </a:rPr>
              <a:t>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60810" y="4343400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ymbol" panose="05050102010706020507" pitchFamily="18" charset="2"/>
              </a:rPr>
              <a:t></a:t>
            </a:r>
            <a:r>
              <a:rPr lang="en-US" baseline="-25000" dirty="0">
                <a:solidFill>
                  <a:srgbClr val="FF0000"/>
                </a:solidFill>
                <a:latin typeface="Symbol" panose="05050102010706020507" pitchFamily="18" charset="2"/>
              </a:rPr>
              <a:t>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21001" y="4002012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ML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318972" y="4354497"/>
            <a:ext cx="924732" cy="0"/>
          </a:xfrm>
          <a:prstGeom prst="line">
            <a:avLst/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09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504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SLL interference </a:t>
            </a:r>
            <a:r>
              <a:rPr lang="en-US" dirty="0"/>
              <a:t>occurs if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SLL </a:t>
            </a:r>
            <a:r>
              <a:rPr lang="en-US" dirty="0"/>
              <a:t>&gt; 20 log10(A</a:t>
            </a:r>
            <a:r>
              <a:rPr lang="en-US" baseline="-25000" dirty="0"/>
              <a:t>1</a:t>
            </a:r>
            <a:r>
              <a:rPr lang="en-US" dirty="0"/>
              <a:t>/A</a:t>
            </a:r>
            <a:r>
              <a:rPr lang="en-US" baseline="-25000" dirty="0"/>
              <a:t>2</a:t>
            </a:r>
            <a:r>
              <a:rPr lang="en-US" dirty="0"/>
              <a:t>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on </a:t>
            </a:r>
            <a:r>
              <a:rPr lang="en-US" dirty="0"/>
              <a:t>the window where |</a:t>
            </a:r>
            <a:r>
              <a:rPr lang="en-US" dirty="0" smtClean="0">
                <a:latin typeface="Symbol" panose="05050102010706020507" pitchFamily="18" charset="2"/>
              </a:rPr>
              <a:t></a:t>
            </a:r>
            <a:r>
              <a:rPr lang="en-US" baseline="-25000" dirty="0" smtClean="0">
                <a:latin typeface="Symbol" panose="05050102010706020507" pitchFamily="18" charset="2"/>
              </a:rPr>
              <a:t></a:t>
            </a:r>
            <a:r>
              <a:rPr lang="en-US" dirty="0" smtClean="0">
                <a:latin typeface="Symbol" panose="05050102010706020507" pitchFamily="18" charset="2"/>
              </a:rPr>
              <a:t>- </a:t>
            </a:r>
            <a:r>
              <a:rPr lang="en-US" baseline="-25000" dirty="0" smtClean="0">
                <a:latin typeface="Symbol" panose="05050102010706020507" pitchFamily="18" charset="2"/>
              </a:rPr>
              <a:t>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en-US" dirty="0"/>
              <a:t>|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200400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342739" y="4190260"/>
            <a:ext cx="0" cy="1531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987427" y="444993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ymbol" panose="05050102010706020507" pitchFamily="18" charset="2"/>
              </a:rPr>
              <a:t></a:t>
            </a:r>
            <a:r>
              <a:rPr lang="en-US" baseline="-25000" dirty="0">
                <a:latin typeface="Symbol" panose="05050102010706020507" pitchFamily="18" charset="2"/>
              </a:rPr>
              <a:t>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34060" y="444993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ymbol" panose="05050102010706020507" pitchFamily="18" charset="2"/>
              </a:rPr>
              <a:t></a:t>
            </a:r>
            <a:r>
              <a:rPr lang="en-US" baseline="-25000" dirty="0">
                <a:latin typeface="Symbol" panose="05050102010706020507" pitchFamily="18" charset="2"/>
              </a:rPr>
              <a:t>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89296" y="2334698"/>
            <a:ext cx="396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339805" y="3897498"/>
            <a:ext cx="396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25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12217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504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SLL interference </a:t>
            </a:r>
            <a:r>
              <a:rPr lang="en-US" dirty="0"/>
              <a:t>occurs if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SLL </a:t>
            </a:r>
            <a:r>
              <a:rPr lang="en-US" dirty="0"/>
              <a:t>&gt; 20 log10(A</a:t>
            </a:r>
            <a:r>
              <a:rPr lang="en-US" baseline="-25000" dirty="0"/>
              <a:t>1</a:t>
            </a:r>
            <a:r>
              <a:rPr lang="en-US" dirty="0"/>
              <a:t>/A</a:t>
            </a:r>
            <a:r>
              <a:rPr lang="en-US" baseline="-25000" dirty="0"/>
              <a:t>2</a:t>
            </a:r>
            <a:r>
              <a:rPr lang="en-US" dirty="0"/>
              <a:t>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on </a:t>
            </a:r>
            <a:r>
              <a:rPr lang="en-US" dirty="0"/>
              <a:t>the window where |</a:t>
            </a:r>
            <a:r>
              <a:rPr lang="en-US" dirty="0" smtClean="0">
                <a:latin typeface="Symbol" panose="05050102010706020507" pitchFamily="18" charset="2"/>
              </a:rPr>
              <a:t></a:t>
            </a:r>
            <a:r>
              <a:rPr lang="en-US" baseline="-25000" dirty="0" smtClean="0">
                <a:latin typeface="Symbol" panose="05050102010706020507" pitchFamily="18" charset="2"/>
              </a:rPr>
              <a:t></a:t>
            </a:r>
            <a:r>
              <a:rPr lang="en-US" dirty="0" smtClean="0">
                <a:latin typeface="Symbol" panose="05050102010706020507" pitchFamily="18" charset="2"/>
              </a:rPr>
              <a:t>- </a:t>
            </a:r>
            <a:r>
              <a:rPr lang="en-US" baseline="-25000" dirty="0" smtClean="0">
                <a:latin typeface="Symbol" panose="05050102010706020507" pitchFamily="18" charset="2"/>
              </a:rPr>
              <a:t>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en-US" dirty="0"/>
              <a:t>|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200400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342739" y="4190260"/>
            <a:ext cx="0" cy="1531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987427" y="444993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ymbol" panose="05050102010706020507" pitchFamily="18" charset="2"/>
              </a:rPr>
              <a:t></a:t>
            </a:r>
            <a:r>
              <a:rPr lang="en-US" baseline="-25000" dirty="0">
                <a:latin typeface="Symbol" panose="05050102010706020507" pitchFamily="18" charset="2"/>
              </a:rPr>
              <a:t>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34060" y="444993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ymbol" panose="05050102010706020507" pitchFamily="18" charset="2"/>
              </a:rPr>
              <a:t></a:t>
            </a:r>
            <a:r>
              <a:rPr lang="en-US" baseline="-25000" dirty="0">
                <a:latin typeface="Symbol" panose="05050102010706020507" pitchFamily="18" charset="2"/>
              </a:rPr>
              <a:t>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89296" y="2334698"/>
            <a:ext cx="396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339805" y="3897498"/>
            <a:ext cx="396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06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092" y="2519364"/>
            <a:ext cx="5857875" cy="233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504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SLL interference </a:t>
            </a:r>
            <a:r>
              <a:rPr lang="en-US" dirty="0"/>
              <a:t>occurs if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SLL </a:t>
            </a:r>
            <a:r>
              <a:rPr lang="en-US" dirty="0"/>
              <a:t>&gt; 20 log10(A</a:t>
            </a:r>
            <a:r>
              <a:rPr lang="en-US" baseline="-25000" dirty="0"/>
              <a:t>1</a:t>
            </a:r>
            <a:r>
              <a:rPr lang="en-US" dirty="0"/>
              <a:t>/A</a:t>
            </a:r>
            <a:r>
              <a:rPr lang="en-US" baseline="-25000" dirty="0"/>
              <a:t>2</a:t>
            </a:r>
            <a:r>
              <a:rPr lang="en-US" dirty="0"/>
              <a:t>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on </a:t>
            </a:r>
            <a:r>
              <a:rPr lang="en-US" dirty="0"/>
              <a:t>the window where |</a:t>
            </a:r>
            <a:r>
              <a:rPr lang="en-US" dirty="0" smtClean="0">
                <a:latin typeface="Symbol" panose="05050102010706020507" pitchFamily="18" charset="2"/>
              </a:rPr>
              <a:t></a:t>
            </a:r>
            <a:r>
              <a:rPr lang="en-US" baseline="-25000" dirty="0" smtClean="0">
                <a:latin typeface="Symbol" panose="05050102010706020507" pitchFamily="18" charset="2"/>
              </a:rPr>
              <a:t></a:t>
            </a:r>
            <a:r>
              <a:rPr lang="en-US" dirty="0" smtClean="0">
                <a:latin typeface="Symbol" panose="05050102010706020507" pitchFamily="18" charset="2"/>
              </a:rPr>
              <a:t>- </a:t>
            </a:r>
            <a:r>
              <a:rPr lang="en-US" baseline="-25000" dirty="0" smtClean="0">
                <a:latin typeface="Symbol" panose="05050102010706020507" pitchFamily="18" charset="2"/>
              </a:rPr>
              <a:t>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en-US" dirty="0"/>
              <a:t>|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04800" y="43434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200400" y="2519364"/>
            <a:ext cx="0" cy="1824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342739" y="4190260"/>
            <a:ext cx="0" cy="1531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987427" y="444993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ymbol" panose="05050102010706020507" pitchFamily="18" charset="2"/>
              </a:rPr>
              <a:t></a:t>
            </a:r>
            <a:r>
              <a:rPr lang="en-US" baseline="-25000" dirty="0">
                <a:latin typeface="Symbol" panose="05050102010706020507" pitchFamily="18" charset="2"/>
              </a:rPr>
              <a:t>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34060" y="444993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ymbol" panose="05050102010706020507" pitchFamily="18" charset="2"/>
              </a:rPr>
              <a:t></a:t>
            </a:r>
            <a:r>
              <a:rPr lang="en-US" baseline="-25000" dirty="0">
                <a:latin typeface="Symbol" panose="05050102010706020507" pitchFamily="18" charset="2"/>
              </a:rPr>
              <a:t>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89296" y="2334698"/>
            <a:ext cx="396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339805" y="3897498"/>
            <a:ext cx="396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8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9EE87A76065746B73A8E1DFDEB3AC1" ma:contentTypeVersion="0" ma:contentTypeDescription="Create a new document." ma:contentTypeScope="" ma:versionID="6ad1ccd13760521ae0f4c9577f975c2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4844211cde7a275d34da09a05cfaa1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4A372959-D08D-4E5E-9DC7-ECCB4BD375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8DE9070-F384-43EF-AAD8-36BBFAFD3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7CA3BC-86B2-4EC2-B86E-A28C8D40DF83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261</Words>
  <Application>Microsoft Office PowerPoint</Application>
  <PresentationFormat>On-screen Show (4:3)</PresentationFormat>
  <Paragraphs>185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Windows</vt:lpstr>
      <vt:lpstr>Smearing occurs if |-  | &lt; ML / 2 </vt:lpstr>
      <vt:lpstr>Smearing occurs if |-  | &lt; ML / 2 </vt:lpstr>
      <vt:lpstr>SLL interference occurs if  SLL &gt; 20 log10(A1/A2)  on the window where |-  |</vt:lpstr>
      <vt:lpstr>SLL interference occurs if  SLL &gt; 20 log10(A1/A2)  on the window where |-  |</vt:lpstr>
      <vt:lpstr>SLL interference occurs if  SLL &gt; 20 log10(A1/A2)  on the window where |-  |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George York</cp:lastModifiedBy>
  <cp:revision>29</cp:revision>
  <cp:lastPrinted>2015-09-08T14:19:44Z</cp:lastPrinted>
  <dcterms:created xsi:type="dcterms:W3CDTF">2011-09-02T14:50:10Z</dcterms:created>
  <dcterms:modified xsi:type="dcterms:W3CDTF">2015-09-08T14:27:52Z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0x010100589EE87A76065746B73A8E1DFDEB3AC1</vt:lpwstr>
  </property>
</Properties>
</file>